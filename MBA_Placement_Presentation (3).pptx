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KNN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0.88400000000000001</c:v>
                </c:pt>
                <c:pt idx="1">
                  <c:v>0.76700000000000002</c:v>
                </c:pt>
                <c:pt idx="2">
                  <c:v>0.72099999999999997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A5-42CE-A3C9-B2D8B26378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653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14400" y="1920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MBA Job </a:t>
            </a:r>
            <a:r>
              <a:rPr lang="en-US" sz="6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Placement Outcomes</a:t>
            </a:r>
            <a:endParaRPr lang="en-US" sz="6000" dirty="0"/>
          </a:p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 Mwirebua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9276" y="40919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668 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for Data Analysis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MBA placement before students enter the job market?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03520" cy="475488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3152" cy="4754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student's academic record, work history, and interview score, can we predict whether they will be Placed or Not Placed at the end of the MBA program?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434340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Career-services teams need to identify at-risk students early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programs want to allocate coaching resources efficiently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benefit from personalized intervention before placement season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26480" y="1554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26480" y="21031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1264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81228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1228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classifier that predicts placement status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26480" y="3063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1264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81228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1228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variables most strongly driving placement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26480" y="40233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61264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81228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1228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and KNN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26480" y="4983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1264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81228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12280" y="5257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steps for MBA career services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MBA student records, 18 predictors after cleaning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157984" cy="14630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157984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215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52344" y="1645920"/>
            <a:ext cx="2157984" cy="14630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52344" y="1645920"/>
            <a:ext cx="2157984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752344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752344" y="26060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47488" y="1645920"/>
            <a:ext cx="2157984" cy="14630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047488" y="1645920"/>
            <a:ext cx="2157984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047488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47488" y="26060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used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42632" y="1645920"/>
            <a:ext cx="2157984" cy="14630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342632" y="1645920"/>
            <a:ext cx="2157984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342632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68.8%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342632" y="26060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37776" y="1645920"/>
            <a:ext cx="2157984" cy="146304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9637776" y="1645920"/>
            <a:ext cx="2157984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637776" y="178308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31.2%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637776" y="26060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Placed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in three groups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3749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502920" cy="5029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7160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31520" y="4709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ssc_percentage, hsc_percentage, degree_percentage, mba_percent, ssc_board, hsc_subject, undergrad_degree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389120" y="3931920"/>
            <a:ext cx="3749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114800"/>
            <a:ext cx="502920" cy="5029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0352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4663440" y="4709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work_experience, years_experience, internship_completed, num_certifications, emp_test_percentage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8321040" y="3931920"/>
            <a:ext cx="3749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4114800"/>
            <a:ext cx="502920" cy="5029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23544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Outcome-stage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8595360" y="4709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specialisation, skills_match_percent, interview_score, gender + the target: status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 raw columns to a model-ready feature matrix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21031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types valid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2679192"/>
            <a:ext cx="201168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97480" y="2011680"/>
            <a:ext cx="21031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69748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69748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Leakage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788920" y="2926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company_tier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job_competition_level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679192"/>
            <a:ext cx="201168" cy="20116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0" y="2011680"/>
            <a:ext cx="21031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502920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02920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5120640" y="2926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AcademicScore (avg)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AcademicLevel (bin)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2679192"/>
            <a:ext cx="201168" cy="20116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360920" y="2011680"/>
            <a:ext cx="21031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5"/>
          <p:cNvSpPr/>
          <p:nvPr/>
        </p:nvSpPr>
        <p:spPr>
          <a:xfrm>
            <a:off x="736092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36092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7452360" y="2926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dummies,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drop_first=True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328" y="2679192"/>
            <a:ext cx="201168" cy="2011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692640" y="2011680"/>
            <a:ext cx="21031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19"/>
          <p:cNvSpPr/>
          <p:nvPr/>
        </p:nvSpPr>
        <p:spPr>
          <a:xfrm>
            <a:off x="969264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69264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&amp; Scale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784080" y="2926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4023360"/>
            <a:ext cx="11247120" cy="201168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3"/>
          <p:cNvSpPr/>
          <p:nvPr/>
        </p:nvSpPr>
        <p:spPr>
          <a:xfrm>
            <a:off x="457200" y="4023360"/>
            <a:ext cx="73152" cy="2011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1732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leakage prevention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777240" y="47548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company_tier and job_competition_level describe the company that hired the student — both are determined AFTER placement. Including them as predictors would leak the answer into the model and inflate test accuracy. Removing them was the most consequential preprocessing decision.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performance separates Placed from Not Placed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figures_v2/fig4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1640"/>
            <a:ext cx="530352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89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/home/claude/figures_v2/fig3_degree_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91640"/>
            <a:ext cx="5212080" cy="4297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5989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% by placement status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EDA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is telling us before any modeling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600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performance matters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97280" y="1965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students have a median degree % around 68% vs ~61% for non-placed. SSC, HSC, and degree % all separate the two groups.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5176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560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 is a real signal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097280" y="29260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prior work experience are placed at a noticeably higher rate than those without.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1188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3520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affects outcomes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097280" y="3886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Mkt&amp;Fin students out-place Mkt&amp;HR students — a candidate for targeted career-services investment.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4480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is moderate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1097280" y="4846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Placed / 31% Not Placed. We use F1 and minority-class recall instead of relying on accuracy.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32120"/>
            <a:ext cx="384048" cy="3840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5440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multicollinearity red flags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1097280" y="5806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stay below 0.6, so all predictors can enter the model together.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 spanning linear, tree-based, and instance-based families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6576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interpretable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31089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probability function from a weighted sum of features.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coefficients show feature importance; works well on small 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60020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251960" y="1600200"/>
            <a:ext cx="36576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26280" y="1874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2628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Non-linear, rule-based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2880360"/>
            <a:ext cx="31089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flowchart of yes/no questions on the features.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captures interactions; weakness: can overfit on small samples.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01000" y="160020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001000" y="1600200"/>
            <a:ext cx="36576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275320" y="1874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 Neighbors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7532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Instance-based, lazy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75320" y="2880360"/>
            <a:ext cx="31089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27532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7532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based on the 5 most similar students in training data.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7532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Strengths: makes no parametric assumptions; sensitive to scale and noise.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Model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leads on accuracy and F1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68580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00200"/>
            <a:ext cx="4114800" cy="438912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7589520" y="1600200"/>
            <a:ext cx="73152" cy="4389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81812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818120" y="2286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wins on every metric: accuracy 0.88, F1 (Placed) 0.92.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drops to 0.77 — likely overfitting on 172 training rows.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underperforms at 0.72 — high-dimensional, scale-sensitive feature space.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of 16+ accuracy points justifies promoting LR to the tuning stage.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Tuning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5-fold CV — accuracy jumps to 93%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06040" cy="178308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691640"/>
            <a:ext cx="2606040" cy="178308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91840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3291840" y="2880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accuracy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03320"/>
            <a:ext cx="2606040" cy="178308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920" y="3886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02920" y="4892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F1 (Placed)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3703320"/>
            <a:ext cx="2606040" cy="178308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291840" y="3886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3291840" y="4892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F1 (Placed)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0" descr="/home/claude/figures_v2/fig12_tuned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5212080" cy="40233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355080" y="5897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LR confusion matrix on 43 test students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5760720"/>
            <a:ext cx="53492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594360" y="576072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 C = 0.1   •   penalty = l2   •   solver = lbfgs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Placement?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coefficients from the tuned Logistic Regression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67665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figures_v2/fig13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0"/>
            <a:ext cx="649224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0" y="1691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3 takeaways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228600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4980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183880" y="2240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AcademicScore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83880" y="25603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SSC + HSC + degree average is the single largest positive driver.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356616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498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183880" y="3520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work_experience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83880" y="38404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experience meaningfully raises placement probability.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498080" y="4846320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498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83880" y="4800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183880" y="51206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Mkt&amp;HR carries a small negative coefficient vs Mkt&amp;Fin.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for MBA Career Services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output to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210312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73152" cy="2103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848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placement-risk dashboard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554480" y="23774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new student on admission. Flag those with predicted probability below 0.5 for proactive outreach.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1600200"/>
            <a:ext cx="5577840" cy="210312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6126480" y="1600200"/>
            <a:ext cx="73152" cy="2103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08483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internship pipelines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178040" y="23774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short work experience materially raises placement odds — credit short-term project work.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3886200"/>
            <a:ext cx="5577840" cy="210312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502920" y="3886200"/>
            <a:ext cx="73152" cy="2103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37083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the Mkt&amp;HR pipeline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554480" y="46634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placement rate vs Mkt&amp;Fin. Target HR-focused employer outreach and alumni mentorship.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126480" y="3886200"/>
            <a:ext cx="5577840" cy="2103120"/>
          </a:xfrm>
          <a:prstGeom prst="rect">
            <a:avLst/>
          </a:prstGeom>
          <a:solidFill>
            <a:srgbClr val="F7F8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6126480" y="3886200"/>
            <a:ext cx="73152" cy="2103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6400800" y="42519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437083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7804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for fairness before deployment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178040" y="466344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disparate impact across gender and degree-type subgroups. Pair any rollout with monitoring.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41480" y="0"/>
            <a:ext cx="320040" cy="68580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10332720" cy="2377440"/>
          </a:xfrm>
          <a:prstGeom prst="rect">
            <a:avLst/>
          </a:prstGeom>
          <a:solidFill>
            <a:srgbClr val="121940"/>
          </a:solidFill>
          <a:ln w="12700">
            <a:solidFill>
              <a:srgbClr val="1219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18872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at a glance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4160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18872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1880" y="4160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1188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(Placed)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4160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3504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(Not Placed)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58200" y="4160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45820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used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922</Words>
  <Application>Microsoft Office PowerPoint</Application>
  <PresentationFormat>Widescreen</PresentationFormat>
  <Paragraphs>179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MBA Job Placement Outcomes</dc:title>
  <dc:subject>PptxGenJS Presentation</dc:subject>
  <dc:creator>Newton Mwirebua</dc:creator>
  <cp:lastModifiedBy>newton Mwirebua</cp:lastModifiedBy>
  <cp:revision>2</cp:revision>
  <dcterms:created xsi:type="dcterms:W3CDTF">2026-04-27T14:57:57Z</dcterms:created>
  <dcterms:modified xsi:type="dcterms:W3CDTF">2026-04-27T15:11:39Z</dcterms:modified>
</cp:coreProperties>
</file>